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0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0A7A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A3144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Youth</c:v>
                </c:pt>
                <c:pt idx="1">
                  <c:v>Adult</c:v>
                </c:pt>
                <c:pt idx="2">
                  <c:v>Elder</c:v>
                </c:pt>
                <c:pt idx="3">
                  <c:v>Infants</c:v>
                </c:pt>
                <c:pt idx="4">
                  <c:v>Teenager</c:v>
                </c:pt>
                <c:pt idx="5">
                  <c:v>Kids</c:v>
                </c:pt>
                <c:pt idx="6">
                  <c:v>Pensioner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2424</c:v>
                </c:pt>
                <c:pt idx="1">
                  <c:v>1346</c:v>
                </c:pt>
                <c:pt idx="2">
                  <c:v>212</c:v>
                </c:pt>
                <c:pt idx="3">
                  <c:v>175</c:v>
                </c:pt>
                <c:pt idx="4">
                  <c:v>165</c:v>
                </c:pt>
                <c:pt idx="5">
                  <c:v>37</c:v>
                </c:pt>
                <c:pt idx="6">
                  <c:v>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4D3-4EEA-AB65-D1785AC51E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144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E5EAF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97384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 / sessions</c:v>
                </c:pt>
              </c:strCache>
            </c:strRef>
          </c:tx>
          <c:dPt>
            <c:idx val="0"/>
            <c:bubble3D val="0"/>
            <c:spPr>
              <a:solidFill>
                <a:srgbClr val="0E979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ED7-4404-81A9-ABE9E3641C64}"/>
              </c:ext>
            </c:extLst>
          </c:dPt>
          <c:dPt>
            <c:idx val="1"/>
            <c:bubble3D val="0"/>
            <c:spPr>
              <a:solidFill>
                <a:srgbClr val="3168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ED7-4404-81A9-ABE9E3641C64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3723</c:v>
                </c:pt>
                <c:pt idx="1">
                  <c:v>488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D7-4404-81A9-ABE9E3641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Unique viewers</c:v>
                </c:pt>
              </c:strCache>
            </c:strRef>
          </c:tx>
          <c:dPt>
            <c:idx val="0"/>
            <c:bubble3D val="0"/>
            <c:spPr>
              <a:solidFill>
                <a:srgbClr val="0E979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A76-488E-B6D0-187A88AE5D0D}"/>
              </c:ext>
            </c:extLst>
          </c:dPt>
          <c:dPt>
            <c:idx val="1"/>
            <c:bubble3D val="0"/>
            <c:spPr>
              <a:solidFill>
                <a:srgbClr val="3168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A76-488E-B6D0-187A88AE5D0D}"/>
              </c:ext>
            </c:extLst>
          </c:dPt>
          <c:dPt>
            <c:idx val="2"/>
            <c:bubble3D val="0"/>
            <c:spPr>
              <a:solidFill>
                <a:srgbClr val="66C2B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A76-488E-B6D0-187A88AE5D0D}"/>
              </c:ext>
            </c:extLst>
          </c:dPt>
          <c:dPt>
            <c:idx val="3"/>
            <c:bubble3D val="0"/>
            <c:spPr>
              <a:solidFill>
                <a:srgbClr val="F1AD4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DA76-488E-B6D0-187A88AE5D0D}"/>
              </c:ext>
            </c:extLst>
          </c:dPt>
          <c:dPt>
            <c:idx val="4"/>
            <c:bubble3D val="0"/>
            <c:spPr>
              <a:solidFill>
                <a:srgbClr val="9CA7B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DA76-488E-B6D0-187A88AE5D0D}"/>
              </c:ext>
            </c:extLst>
          </c:dPt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Indian / Asian</c:v>
                </c:pt>
                <c:pt idx="2">
                  <c:v>White</c:v>
                </c:pt>
                <c:pt idx="3">
                  <c:v>Coloured</c:v>
                </c:pt>
                <c:pt idx="4">
                  <c:v>Not recorded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1662</c:v>
                </c:pt>
                <c:pt idx="1">
                  <c:v>755</c:v>
                </c:pt>
                <c:pt idx="2">
                  <c:v>726</c:v>
                </c:pt>
                <c:pt idx="3">
                  <c:v>653</c:v>
                </c:pt>
                <c:pt idx="4">
                  <c:v>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76-488E-B6D0-187A88AE5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0A7A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A3144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Uncategorized</c:v>
                </c:pt>
                <c:pt idx="7">
                  <c:v>North West</c:v>
                </c:pt>
                <c:pt idx="8">
                  <c:v>Free State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1607</c:v>
                </c:pt>
                <c:pt idx="1">
                  <c:v>770</c:v>
                </c:pt>
                <c:pt idx="2">
                  <c:v>448</c:v>
                </c:pt>
                <c:pt idx="3">
                  <c:v>391</c:v>
                </c:pt>
                <c:pt idx="4">
                  <c:v>342</c:v>
                </c:pt>
                <c:pt idx="5">
                  <c:v>271</c:v>
                </c:pt>
                <c:pt idx="6">
                  <c:v>176</c:v>
                </c:pt>
                <c:pt idx="7">
                  <c:v>152</c:v>
                </c:pt>
                <c:pt idx="8">
                  <c:v>147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44D-419B-BF92-450CD74C36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144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E5EAF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97384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hours</c:v>
                </c:pt>
              </c:strCache>
            </c:strRef>
          </c:tx>
          <c:spPr>
            <a:ln w="44450">
              <a:solidFill>
                <a:srgbClr val="0E979B"/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73444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291.39583333333331</c:v>
                </c:pt>
                <c:pt idx="1">
                  <c:v>392.6827777777778</c:v>
                </c:pt>
                <c:pt idx="2">
                  <c:v>838.92222222222222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82-461B-A384-D58DBB4FF3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73444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1EBE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73444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Viewing hours</c:v>
                </c:pt>
              </c:strCache>
            </c:strRef>
          </c:tx>
          <c:spPr>
            <a:solidFill>
              <a:srgbClr val="00A7A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A3144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117.6</c:v>
                </c:pt>
                <c:pt idx="1">
                  <c:v>199.6</c:v>
                </c:pt>
                <c:pt idx="2">
                  <c:v>234.6</c:v>
                </c:pt>
                <c:pt idx="3">
                  <c:v>232.7</c:v>
                </c:pt>
                <c:pt idx="4">
                  <c:v>249.5</c:v>
                </c:pt>
                <c:pt idx="5">
                  <c:v>299.10000000000002</c:v>
                </c:pt>
                <c:pt idx="6">
                  <c:v>189.8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514-43D5-AE2E-797280ECA2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>
                <a:solidFill>
                  <a:srgbClr val="2A3144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5EAF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97384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Viewing hours</c:v>
                </c:pt>
              </c:strCache>
            </c:strRef>
          </c:tx>
          <c:spPr>
            <a:solidFill>
              <a:srgbClr val="00A7A0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A3144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ICC Cricket World Cup 2011</c:v>
                </c:pt>
                <c:pt idx="1">
                  <c:v>Live Events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Boomerang</c:v>
                </c:pt>
                <c:pt idx="6">
                  <c:v>Cartoon Network</c:v>
                </c:pt>
                <c:pt idx="7">
                  <c:v>CNN</c:v>
                </c:pt>
                <c:pt idx="8">
                  <c:v>Africa Magic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412.1</c:v>
                </c:pt>
                <c:pt idx="1">
                  <c:v>318.5</c:v>
                </c:pt>
                <c:pt idx="2">
                  <c:v>192.8</c:v>
                </c:pt>
                <c:pt idx="3">
                  <c:v>191.9</c:v>
                </c:pt>
                <c:pt idx="4">
                  <c:v>90.7</c:v>
                </c:pt>
                <c:pt idx="5">
                  <c:v>73.3</c:v>
                </c:pt>
                <c:pt idx="6">
                  <c:v>70.3</c:v>
                </c:pt>
                <c:pt idx="7">
                  <c:v>67.8</c:v>
                </c:pt>
                <c:pt idx="8">
                  <c:v>48.7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689-4AFE-90B9-0EBC0AAEDC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2A3144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E5EAF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97384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Viewing hours</c:v>
                </c:pt>
              </c:strCache>
            </c:strRef>
          </c:tx>
          <c:dPt>
            <c:idx val="0"/>
            <c:bubble3D val="0"/>
            <c:spPr>
              <a:solidFill>
                <a:srgbClr val="0E979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C08-4010-B774-E108C3251D7A}"/>
              </c:ext>
            </c:extLst>
          </c:dPt>
          <c:dPt>
            <c:idx val="1"/>
            <c:bubble3D val="0"/>
            <c:spPr>
              <a:solidFill>
                <a:srgbClr val="3168A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C08-4010-B774-E108C3251D7A}"/>
              </c:ext>
            </c:extLst>
          </c:dPt>
          <c:dPt>
            <c:idx val="2"/>
            <c:bubble3D val="0"/>
            <c:spPr>
              <a:solidFill>
                <a:srgbClr val="66C2B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C08-4010-B774-E108C3251D7A}"/>
              </c:ext>
            </c:extLst>
          </c:dPt>
          <c:dPt>
            <c:idx val="3"/>
            <c:bubble3D val="0"/>
            <c:spPr>
              <a:solidFill>
                <a:srgbClr val="F1AD4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C08-4010-B774-E108C3251D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73444"/>
                    </a:solidFill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Midnight</c:v>
                </c:pt>
                <c:pt idx="1">
                  <c:v>Morning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106.72638888888889</c:v>
                </c:pt>
                <c:pt idx="1">
                  <c:v>473.80583333333334</c:v>
                </c:pt>
                <c:pt idx="2">
                  <c:v>563.77722222222224</c:v>
                </c:pt>
                <c:pt idx="3">
                  <c:v>378.69138888888887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C08-4010-B774-E108C3251D7A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100">
              <a:solidFill>
                <a:srgbClr val="273444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F86"/>
                </a:solidFill>
                <a:latin typeface="Aptos Display"/>
              </a:defRPr>
            </a:pPr>
            <a:r>
              <a:t>BRIGHTTV  /  VIEWERSHIP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943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72B4D"/>
                </a:solidFill>
                <a:latin typeface="Aptos Display"/>
              </a:defRPr>
            </a:pPr>
            <a:r>
              <a:t>Turning viewing data</a:t>
            </a:r>
            <a:br/>
            <a:r>
              <a:t>into subscriber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52657D"/>
                </a:solidFill>
                <a:latin typeface="Aptos Display"/>
              </a:defRPr>
            </a:pPr>
            <a:r>
              <a:t>Understanding our audience, what they watch and when they tune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18888"/>
            <a:ext cx="5212080" cy="22860"/>
          </a:xfrm>
          <a:prstGeom prst="rect">
            <a:avLst/>
          </a:prstGeom>
          <a:solidFill>
            <a:srgbClr val="C9D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166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A3144"/>
                </a:solidFill>
                <a:latin typeface="Aptos"/>
              </a:rPr>
              <a:t>Presented by Yolisa Velebayi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50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Aptos Display"/>
              </a:defRPr>
            </a:pPr>
            <a:r>
              <a:t>BrightTV case study  |  January–March 2016</a:t>
            </a:r>
          </a:p>
        </p:txBody>
      </p:sp>
      <p:pic>
        <p:nvPicPr>
          <p:cNvPr id="9" name="Picture 8" descr="BrightTV_Cover_TV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78992"/>
            <a:ext cx="51663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The story in four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267004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7F86"/>
                </a:solidFill>
                <a:latin typeface="Aptos Display"/>
              </a:defRPr>
            </a:pPr>
            <a:r>
              <a:t>4,386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066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viewers in the extract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755648"/>
            <a:ext cx="267004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67328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7F86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7066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viewing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55648"/>
            <a:ext cx="267004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47688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7F86"/>
                </a:solidFill>
                <a:latin typeface="Aptos Display"/>
              </a:defRPr>
            </a:pPr>
            <a:r>
              <a:t>1,523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7066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hours watched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755648"/>
            <a:ext cx="267004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8048" y="199339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007F86"/>
                </a:solidFill>
                <a:latin typeface="Aptos Display"/>
              </a:defRPr>
            </a:pPr>
            <a:r>
              <a:t>2.28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27066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4748B"/>
                </a:solidFill>
                <a:latin typeface="Aptos"/>
              </a:defRPr>
            </a:pPr>
            <a:r>
              <a:t>sessions per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75887"/>
            <a:ext cx="10789920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396849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C94A77"/>
                </a:solidFill>
                <a:latin typeface="Aptos Display"/>
              </a:defRPr>
            </a:pPr>
            <a:r>
              <a:t>The opportunity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562856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Viewing is rising, but many sessions are brief. BrightTV can build stronger viewing habits by matching content to the right audience and the right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Our audience is predominantly young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Youth aged 20–35 make up 55% of observed viewers. Adults aged 36–50 are the next largest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Lead with content and creative relevant to these two segments.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Who is watching? Gender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960120" y="2029968"/>
          <a:ext cx="45720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Among viewers with recorded gender, men account for the clear majority. Gender is missing for some viewers.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Test more inclusive programming and promotions; avoid assuming gender causes viewing preferences.</a:t>
            </a:r>
          </a:p>
        </p:txBody>
      </p:sp>
      <p:sp>
        <p:nvSpPr>
          <p:cNvPr id="17" name="Oval 16"/>
          <p:cNvSpPr/>
          <p:nvPr/>
        </p:nvSpPr>
        <p:spPr>
          <a:xfrm>
            <a:off x="5532120" y="2304288"/>
            <a:ext cx="201168" cy="201168"/>
          </a:xfrm>
          <a:prstGeom prst="ellipse">
            <a:avLst/>
          </a:prstGeom>
          <a:solidFill>
            <a:srgbClr val="0E9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2194560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646"/>
                </a:solidFill>
                <a:latin typeface="Aptos"/>
              </a:rPr>
              <a:t>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256032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636F"/>
                </a:solidFill>
                <a:latin typeface="Aptos"/>
              </a:rPr>
              <a:t>3,723 viewers  ·  84.9%</a:t>
            </a:r>
          </a:p>
        </p:txBody>
      </p:sp>
      <p:sp>
        <p:nvSpPr>
          <p:cNvPr id="20" name="Oval 19"/>
          <p:cNvSpPr/>
          <p:nvPr/>
        </p:nvSpPr>
        <p:spPr>
          <a:xfrm>
            <a:off x="5532120" y="3264408"/>
            <a:ext cx="201168" cy="201168"/>
          </a:xfrm>
          <a:prstGeom prst="ellipse">
            <a:avLst/>
          </a:prstGeom>
          <a:solidFill>
            <a:srgbClr val="31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9592" y="3154680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646"/>
                </a:solidFill>
                <a:latin typeface="Aptos"/>
              </a:rPr>
              <a:t>Female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352044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636F"/>
                </a:solidFill>
                <a:latin typeface="Aptos"/>
              </a:rPr>
              <a:t>488 viewers  ·  11.1%</a:t>
            </a:r>
          </a:p>
        </p:txBody>
      </p:sp>
      <p:sp>
        <p:nvSpPr>
          <p:cNvPr id="23" name="Oval 22"/>
          <p:cNvSpPr/>
          <p:nvPr/>
        </p:nvSpPr>
        <p:spPr>
          <a:xfrm>
            <a:off x="5532120" y="4224528"/>
            <a:ext cx="201168" cy="201168"/>
          </a:xfrm>
          <a:prstGeom prst="ellipse">
            <a:avLst/>
          </a:prstGeom>
          <a:solidFill>
            <a:srgbClr val="F1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79592" y="4114800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3646"/>
                </a:solidFill>
                <a:latin typeface="Aptos"/>
              </a:rPr>
              <a:t>Not recorded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9592" y="448056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636F"/>
                </a:solidFill>
                <a:latin typeface="Aptos"/>
              </a:rPr>
              <a:t>175 viewers  ·  4.0%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Who is watching? Ethnicity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14400" y="2057400"/>
          <a:ext cx="4617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Oval 12"/>
          <p:cNvSpPr/>
          <p:nvPr/>
        </p:nvSpPr>
        <p:spPr>
          <a:xfrm>
            <a:off x="5605272" y="2075688"/>
            <a:ext cx="164592" cy="164592"/>
          </a:xfrm>
          <a:prstGeom prst="ellipse">
            <a:avLst/>
          </a:prstGeom>
          <a:solidFill>
            <a:srgbClr val="0E9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43016" y="1975104"/>
            <a:ext cx="2496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444"/>
                </a:solidFill>
                <a:latin typeface="Aptos"/>
              </a:rPr>
              <a:t>Black  1,662 (37.9%)</a:t>
            </a:r>
          </a:p>
        </p:txBody>
      </p:sp>
      <p:sp>
        <p:nvSpPr>
          <p:cNvPr id="15" name="Oval 14"/>
          <p:cNvSpPr/>
          <p:nvPr/>
        </p:nvSpPr>
        <p:spPr>
          <a:xfrm>
            <a:off x="5605272" y="2724912"/>
            <a:ext cx="164592" cy="164592"/>
          </a:xfrm>
          <a:prstGeom prst="ellipse">
            <a:avLst/>
          </a:prstGeom>
          <a:solidFill>
            <a:srgbClr val="316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43016" y="2624328"/>
            <a:ext cx="2496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444"/>
                </a:solidFill>
                <a:latin typeface="Aptos"/>
              </a:rPr>
              <a:t>Indian / Asian  755 (17.2%)</a:t>
            </a:r>
          </a:p>
        </p:txBody>
      </p:sp>
      <p:sp>
        <p:nvSpPr>
          <p:cNvPr id="17" name="Oval 16"/>
          <p:cNvSpPr/>
          <p:nvPr/>
        </p:nvSpPr>
        <p:spPr>
          <a:xfrm>
            <a:off x="5605272" y="3374136"/>
            <a:ext cx="164592" cy="164592"/>
          </a:xfrm>
          <a:prstGeom prst="ellipse">
            <a:avLst/>
          </a:prstGeom>
          <a:solidFill>
            <a:srgbClr val="66C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43016" y="3273552"/>
            <a:ext cx="2496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444"/>
                </a:solidFill>
                <a:latin typeface="Aptos"/>
              </a:rPr>
              <a:t>White  726 (16.6%)</a:t>
            </a:r>
          </a:p>
        </p:txBody>
      </p:sp>
      <p:sp>
        <p:nvSpPr>
          <p:cNvPr id="19" name="Oval 18"/>
          <p:cNvSpPr/>
          <p:nvPr/>
        </p:nvSpPr>
        <p:spPr>
          <a:xfrm>
            <a:off x="5605272" y="4023360"/>
            <a:ext cx="164592" cy="164592"/>
          </a:xfrm>
          <a:prstGeom prst="ellipse">
            <a:avLst/>
          </a:prstGeom>
          <a:solidFill>
            <a:srgbClr val="F1A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43016" y="3922776"/>
            <a:ext cx="2496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444"/>
                </a:solidFill>
                <a:latin typeface="Aptos"/>
              </a:rPr>
              <a:t>Coloured  653 (14.9%)</a:t>
            </a:r>
          </a:p>
        </p:txBody>
      </p:sp>
      <p:sp>
        <p:nvSpPr>
          <p:cNvPr id="21" name="Oval 20"/>
          <p:cNvSpPr/>
          <p:nvPr/>
        </p:nvSpPr>
        <p:spPr>
          <a:xfrm>
            <a:off x="5605272" y="4672584"/>
            <a:ext cx="164592" cy="164592"/>
          </a:xfrm>
          <a:prstGeom prst="ellipse">
            <a:avLst/>
          </a:prstGeom>
          <a:solidFill>
            <a:srgbClr val="9C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43016" y="4572000"/>
            <a:ext cx="249631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73444"/>
                </a:solidFill>
                <a:latin typeface="Aptos"/>
              </a:rPr>
              <a:t>Not recorded  590 (13.5%)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Black viewers are the largest recorded group (37.9%). Ethnicity is missing for 13.5% of viewers, so this is a partial picture of the audience.</a:t>
            </a:r>
          </a:p>
        </p:txBody>
      </p:sp>
      <p:sp>
        <p:nvSpPr>
          <p:cNvPr id="2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TO DO</a:t>
            </a:r>
          </a:p>
        </p:txBody>
      </p:sp>
      <p:sp>
        <p:nvSpPr>
          <p:cNvPr id="2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Offer a broad range of relevant content and test preferences using actual viewing behaviour, rather than ethnicity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Where viewers are 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Gauteng has the largest observed audience (1,607 unique viewers). Western Cape follows.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Focus acquisition tests in high-reach regions, while exploring underserved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Viewing hours grew strongly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Viewing rose from 291 hours in January to 839 hours in March — an increase of about 188%.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Explore which programmes and audience segments contributed to the increase.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Monday is our quietest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Monday has the lowest viewing hours per observed calendar day; Saturday is strongest.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Make Monday a content-discovery and re-engagement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The most-watched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Sports and live-event channels contribute heavily to total watch time; music is another strong category.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Use popular categories to promote related shows, highlights and curated collections.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AUDIENCE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When viewers tune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7726679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95528" y="1874519"/>
          <a:ext cx="7434072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13648" y="1673352"/>
            <a:ext cx="2880360" cy="4416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87968" y="1993392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7F86"/>
                </a:solidFill>
                <a:latin typeface="Aptos Display"/>
              </a:defRPr>
            </a:pPr>
            <a:r>
              <a:t>WHAT THE DATA SAYS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2505456"/>
            <a:ext cx="2331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72B4D"/>
                </a:solidFill>
                <a:latin typeface="Aptos Display"/>
              </a:defRPr>
            </a:pPr>
            <a:r>
              <a:t>Afternoon accounts for the most watch hours in the supplied timestamps.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4370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94A77"/>
                </a:solidFill>
                <a:latin typeface="Aptos Display"/>
              </a:defRPr>
            </a:pPr>
            <a:r>
              <a:t>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773168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72B4D"/>
                </a:solidFill>
                <a:latin typeface="Aptos"/>
              </a:defRPr>
            </a:pPr>
            <a:r>
              <a:t>Schedule promotional messages around high-activity windows after confirming SA time conversion.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Make Monday worth tuning in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01  Monday Spotlight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Curate sports highlights and catch-up viewing where rights allow.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73936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975104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02  Music Monday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88336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Create a simple, fresh playlist of popular music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87368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03  Smart reminders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Send opt-in, personalised reminders before likely viewing windows.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886200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087368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04  Test and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800600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Measure incremental Monday watch time against a control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GROWTH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Turn interest into subscribers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73936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75104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Reach the right audience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88336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Run youth- and adult-focused acquisition campaigns in strong regions.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73936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975104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Make the first watch 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88336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Show new users relevant content immediately after joining.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87368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Bring viewers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Offer tailored content prompts to viewers with very short sessions.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886200"/>
            <a:ext cx="5248656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087368"/>
            <a:ext cx="47914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7F86"/>
                </a:solidFill>
                <a:latin typeface="Aptos Display"/>
              </a:defRPr>
            </a:pPr>
            <a:r>
              <a:t>Measure actual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800600"/>
            <a:ext cx="4791456" cy="868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172B4D"/>
                </a:solidFill>
                <a:latin typeface="Aptos"/>
              </a:defRPr>
            </a:pPr>
            <a:r>
              <a:t>Track new subscribers, activation, retention and watch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What happens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65376"/>
            <a:ext cx="35661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F86"/>
                </a:solidFill>
                <a:latin typeface="Aptos Display"/>
              </a:defRPr>
            </a:pPr>
            <a:r>
              <a:t>FIRST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9992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Validate local viewing times, clean audience data and establish benchmarks.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865376"/>
            <a:ext cx="35661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2219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F86"/>
                </a:solidFill>
                <a:latin typeface="Aptos Display"/>
              </a:defRPr>
            </a:pPr>
            <a:r>
              <a:t>DAYS 31–60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99232"/>
            <a:ext cx="29992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Pilot Monday content, personalised onboarding and acquisition campaigns.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865376"/>
            <a:ext cx="35661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2219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F86"/>
                </a:solidFill>
                <a:latin typeface="Aptos Display"/>
              </a:defRPr>
            </a:pPr>
            <a:r>
              <a:t>DAYS 61–90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999232"/>
            <a:ext cx="29992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Scale what improves activation, retention and viewing hours.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577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C94A77"/>
                </a:solidFill>
                <a:latin typeface="Aptos Display"/>
              </a:defRPr>
            </a:pPr>
            <a:r>
              <a:t>Success = more activated subscribers who return and keep watching.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09728" cy="320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47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07F86"/>
                </a:solidFill>
                <a:latin typeface="Aptos Display"/>
              </a:defRPr>
            </a:pPr>
            <a:r>
              <a:t>BRIGHTTV  /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172B4D"/>
                </a:solidFill>
                <a:latin typeface="Aptos Display"/>
              </a:defRPr>
            </a:pPr>
            <a:r>
              <a:t>A final note on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382512"/>
            <a:ext cx="10881360" cy="16459"/>
          </a:xfrm>
          <a:prstGeom prst="rect">
            <a:avLst/>
          </a:prstGeom>
          <a:solidFill>
            <a:srgbClr val="E5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64465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BRIGHTTV  •  JAN–MAR 2016  •  VIEWING SESSION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373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106984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" y="2066543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This analysis covers viewing sessions from January–March 2016, not BrightTV’s current subscriber base. One row represents one session.</a:t>
            </a:r>
          </a:p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endParaRPr/>
          </a:p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The extract cannot confirm new subscriptions, churn or campaign effectiveness. Timestamp conversion from UTC to South African time must also be validated before scheduling campaigns.</a:t>
            </a:r>
          </a:p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endParaRPr/>
          </a:p>
          <a:p>
            <a:pPr>
              <a:spcAft>
                <a:spcPts val="1000"/>
              </a:spcAft>
              <a:defRPr sz="1900" b="0">
                <a:solidFill>
                  <a:srgbClr val="172B4D"/>
                </a:solidFill>
                <a:latin typeface="Aptos"/>
              </a:defRPr>
            </a:pPr>
            <a:r>
              <a:t>Recommendations are experiments to test, not proven causes of viewing behaviour.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960120"/>
            <a:ext cx="137160" cy="4892040"/>
          </a:xfrm>
          <a:prstGeom prst="roundRect">
            <a:avLst/>
          </a:prstGeom>
          <a:solidFill>
            <a:srgbClr val="00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F86"/>
                </a:solidFill>
                <a:latin typeface="Aptos Display"/>
              </a:defRPr>
            </a:pPr>
            <a:r>
              <a:t>THE BRIGHTTV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12848"/>
            <a:ext cx="9692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172B4D"/>
                </a:solidFill>
                <a:latin typeface="Aptos Display"/>
              </a:defRPr>
            </a:pPr>
            <a:r>
              <a:t>Give people something</a:t>
            </a:r>
          </a:p>
          <a:p>
            <a:pPr>
              <a:spcAft>
                <a:spcPts val="1000"/>
              </a:spcAft>
              <a:defRPr sz="4200" b="1">
                <a:solidFill>
                  <a:srgbClr val="172B4D"/>
                </a:solidFill>
                <a:latin typeface="Aptos Display"/>
              </a:defRPr>
            </a:pPr>
            <a:r>
              <a:t>to come back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5257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64748B"/>
                </a:solidFill>
                <a:latin typeface="Aptos"/>
              </a:defRPr>
            </a:pPr>
            <a:r>
              <a:t>Relevant content  •  Better discovery  •  Measurable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F86"/>
                </a:solidFill>
              </a:defRPr>
            </a:pPr>
            <a:r>
              <a:t>Presented by Yolisa Velebayi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935</Words>
  <Application>Microsoft Office PowerPoint</Application>
  <PresentationFormat>Widescreen</PresentationFormat>
  <Paragraphs>143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Yolisa  Velebayi</dc:creator>
  <cp:keywords/>
  <dc:description>generated using python-pptx</dc:description>
  <cp:lastModifiedBy>Yolisa  Velebayi</cp:lastModifiedBy>
  <cp:revision>2</cp:revision>
  <dcterms:created xsi:type="dcterms:W3CDTF">2013-01-27T09:14:16Z</dcterms:created>
  <dcterms:modified xsi:type="dcterms:W3CDTF">2026-10-18T20:00:38Z</dcterms:modified>
  <cp:category/>
</cp:coreProperties>
</file>